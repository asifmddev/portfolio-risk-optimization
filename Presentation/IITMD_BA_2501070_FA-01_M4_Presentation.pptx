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>
        <p:scale>
          <a:sx n="100" d="100"/>
          <a:sy n="100" d="100"/>
        </p:scale>
        <p:origin x="33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0E0827-0B5A-3E4D-B51D-7E1DB18A8125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7E7F076-BB38-1D42-8EF6-D4C5CE307C4F}">
      <dgm:prSet phldrT="[Text]" custT="1"/>
      <dgm:spPr/>
      <dgm:t>
        <a:bodyPr/>
        <a:lstStyle/>
        <a:p>
          <a:r>
            <a:rPr lang="en-IN" sz="2000" dirty="0">
              <a:solidFill>
                <a:schemeClr val="bg1"/>
              </a:solidFill>
            </a:rPr>
            <a:t>Volatility </a:t>
          </a:r>
          <a:r>
            <a:rPr lang="en-IN" sz="1600" dirty="0">
              <a:solidFill>
                <a:schemeClr val="bg1"/>
              </a:solidFill>
            </a:rPr>
            <a:t>Comparison</a:t>
          </a:r>
          <a:endParaRPr lang="en-GB" sz="2000" dirty="0"/>
        </a:p>
      </dgm:t>
    </dgm:pt>
    <dgm:pt modelId="{78AC2969-918F-EA46-A38F-C4B57458212F}" type="parTrans" cxnId="{D7D98984-1C44-7E4C-ADF7-C5D96D8F8FD2}">
      <dgm:prSet/>
      <dgm:spPr/>
      <dgm:t>
        <a:bodyPr/>
        <a:lstStyle/>
        <a:p>
          <a:endParaRPr lang="en-GB"/>
        </a:p>
      </dgm:t>
    </dgm:pt>
    <dgm:pt modelId="{8C44A880-7056-6D49-B4A3-7C35B3B9DCAD}" type="sibTrans" cxnId="{D7D98984-1C44-7E4C-ADF7-C5D96D8F8FD2}">
      <dgm:prSet/>
      <dgm:spPr/>
      <dgm:t>
        <a:bodyPr/>
        <a:lstStyle/>
        <a:p>
          <a:endParaRPr lang="en-GB"/>
        </a:p>
      </dgm:t>
    </dgm:pt>
    <dgm:pt modelId="{4E6C981B-A88F-B142-99B1-6B0D9DC75779}">
      <dgm:prSet phldrT="[Text]" custT="1"/>
      <dgm:spPr/>
      <dgm:t>
        <a:bodyPr/>
        <a:lstStyle/>
        <a:p>
          <a:r>
            <a:rPr lang="en-IN" sz="2000" dirty="0">
              <a:solidFill>
                <a:schemeClr val="bg1"/>
              </a:solidFill>
            </a:rPr>
            <a:t>Beta Analysis:</a:t>
          </a:r>
          <a:endParaRPr lang="en-GB" sz="2000" dirty="0"/>
        </a:p>
      </dgm:t>
    </dgm:pt>
    <dgm:pt modelId="{C0D6392B-A796-544D-AC20-A394CB01298F}" type="parTrans" cxnId="{9A36D2BD-2292-CE4E-8C9D-0082E8161960}">
      <dgm:prSet/>
      <dgm:spPr/>
      <dgm:t>
        <a:bodyPr/>
        <a:lstStyle/>
        <a:p>
          <a:endParaRPr lang="en-GB"/>
        </a:p>
      </dgm:t>
    </dgm:pt>
    <dgm:pt modelId="{D21F498A-F010-1F46-AD0A-CEA6A54FDE14}" type="sibTrans" cxnId="{9A36D2BD-2292-CE4E-8C9D-0082E8161960}">
      <dgm:prSet/>
      <dgm:spPr/>
      <dgm:t>
        <a:bodyPr/>
        <a:lstStyle/>
        <a:p>
          <a:endParaRPr lang="en-GB"/>
        </a:p>
      </dgm:t>
    </dgm:pt>
    <dgm:pt modelId="{904503DC-5F44-9842-A6D5-BF03255D21A1}">
      <dgm:prSet phldrT="[Text]" custT="1"/>
      <dgm:spPr/>
      <dgm:t>
        <a:bodyPr/>
        <a:lstStyle/>
        <a:p>
          <a:r>
            <a:rPr lang="en-IN" sz="1400" dirty="0">
              <a:solidFill>
                <a:schemeClr val="bg1"/>
              </a:solidFill>
            </a:rPr>
            <a:t>All portfolios: </a:t>
          </a:r>
          <a:r>
            <a:rPr lang="en-IN" sz="1400" dirty="0"/>
            <a:t>Beta &lt; 0.8 (Defensive)</a:t>
          </a:r>
          <a:endParaRPr lang="en-GB" sz="1400" dirty="0"/>
        </a:p>
      </dgm:t>
    </dgm:pt>
    <dgm:pt modelId="{694B92E4-F067-154F-8F1F-530C379597F5}" type="parTrans" cxnId="{625EE101-7659-EF42-B3AA-7B2AE3DAAD09}">
      <dgm:prSet/>
      <dgm:spPr/>
      <dgm:t>
        <a:bodyPr/>
        <a:lstStyle/>
        <a:p>
          <a:endParaRPr lang="en-GB"/>
        </a:p>
      </dgm:t>
    </dgm:pt>
    <dgm:pt modelId="{CF2DC6A6-9C3A-574C-A668-315F56E5FFF4}" type="sibTrans" cxnId="{625EE101-7659-EF42-B3AA-7B2AE3DAAD09}">
      <dgm:prSet/>
      <dgm:spPr/>
      <dgm:t>
        <a:bodyPr/>
        <a:lstStyle/>
        <a:p>
          <a:endParaRPr lang="en-GB"/>
        </a:p>
      </dgm:t>
    </dgm:pt>
    <dgm:pt modelId="{ECFAB08D-1097-3342-A330-312770EC4E37}">
      <dgm:prSet phldrT="[Text]" custT="1"/>
      <dgm:spPr/>
      <dgm:t>
        <a:bodyPr/>
        <a:lstStyle/>
        <a:p>
          <a:r>
            <a:rPr lang="en-IN" sz="1600" dirty="0">
              <a:solidFill>
                <a:schemeClr val="bg1"/>
              </a:solidFill>
            </a:rPr>
            <a:t>Value at Risk (95% confidence):</a:t>
          </a:r>
          <a:endParaRPr lang="en-GB" sz="1600" dirty="0"/>
        </a:p>
      </dgm:t>
    </dgm:pt>
    <dgm:pt modelId="{A11188D9-A1C6-3C43-818E-9A709C93D2D9}" type="parTrans" cxnId="{4E89AC77-D2EE-C046-8FBC-6982E1DC5F14}">
      <dgm:prSet/>
      <dgm:spPr/>
      <dgm:t>
        <a:bodyPr/>
        <a:lstStyle/>
        <a:p>
          <a:endParaRPr lang="en-GB"/>
        </a:p>
      </dgm:t>
    </dgm:pt>
    <dgm:pt modelId="{BEBC79E9-1B0B-C748-B069-BFC19C873921}" type="sibTrans" cxnId="{4E89AC77-D2EE-C046-8FBC-6982E1DC5F14}">
      <dgm:prSet/>
      <dgm:spPr/>
      <dgm:t>
        <a:bodyPr/>
        <a:lstStyle/>
        <a:p>
          <a:endParaRPr lang="en-GB"/>
        </a:p>
      </dgm:t>
    </dgm:pt>
    <dgm:pt modelId="{0B20FB17-4935-5840-B937-17B60CF37D88}">
      <dgm:prSet phldrT="[Text]" custT="1"/>
      <dgm:spPr/>
      <dgm:t>
        <a:bodyPr/>
        <a:lstStyle/>
        <a:p>
          <a:r>
            <a:rPr lang="en-IN" sz="1400" dirty="0">
              <a:solidFill>
                <a:schemeClr val="bg1"/>
              </a:solidFill>
            </a:rPr>
            <a:t>Conservative: </a:t>
          </a:r>
          <a:r>
            <a:rPr lang="en-IN" sz="1400" dirty="0"/>
            <a:t>₹32,000 daily loss max</a:t>
          </a:r>
          <a:endParaRPr lang="en-GB" sz="1400" dirty="0"/>
        </a:p>
      </dgm:t>
    </dgm:pt>
    <dgm:pt modelId="{5CD14D33-2002-5A4F-BD7F-75180B2B83E0}" type="parTrans" cxnId="{75A8E19F-FD76-DF43-B69E-327E0C3BCCCD}">
      <dgm:prSet/>
      <dgm:spPr/>
      <dgm:t>
        <a:bodyPr/>
        <a:lstStyle/>
        <a:p>
          <a:endParaRPr lang="en-GB"/>
        </a:p>
      </dgm:t>
    </dgm:pt>
    <dgm:pt modelId="{560C2707-5A33-C34A-867A-8B434A0DB681}" type="sibTrans" cxnId="{75A8E19F-FD76-DF43-B69E-327E0C3BCCCD}">
      <dgm:prSet/>
      <dgm:spPr/>
      <dgm:t>
        <a:bodyPr/>
        <a:lstStyle/>
        <a:p>
          <a:endParaRPr lang="en-GB"/>
        </a:p>
      </dgm:t>
    </dgm:pt>
    <dgm:pt modelId="{CC17FAA2-5F77-BA48-B866-BF034317A231}">
      <dgm:prSet custT="1"/>
      <dgm:spPr/>
      <dgm:t>
        <a:bodyPr/>
        <a:lstStyle/>
        <a:p>
          <a:r>
            <a:rPr lang="en-IN" sz="1400" dirty="0">
              <a:solidFill>
                <a:schemeClr val="bg1"/>
              </a:solidFill>
            </a:rPr>
            <a:t>Conservative: </a:t>
          </a:r>
          <a:r>
            <a:rPr lang="en-IN" sz="1400" dirty="0"/>
            <a:t>24.5% (Lowest risk)</a:t>
          </a:r>
          <a:endParaRPr lang="en-GB" sz="1400" dirty="0"/>
        </a:p>
      </dgm:t>
    </dgm:pt>
    <dgm:pt modelId="{8D01AB92-BC6E-4943-881D-A8D74FD6BCC1}" type="parTrans" cxnId="{C5B86A3E-F823-2240-845E-63F8AECB6892}">
      <dgm:prSet/>
      <dgm:spPr/>
      <dgm:t>
        <a:bodyPr/>
        <a:lstStyle/>
        <a:p>
          <a:endParaRPr lang="en-GB"/>
        </a:p>
      </dgm:t>
    </dgm:pt>
    <dgm:pt modelId="{0C4CD6DA-5BCD-C84F-8422-9B489C6DBAEA}" type="sibTrans" cxnId="{C5B86A3E-F823-2240-845E-63F8AECB6892}">
      <dgm:prSet/>
      <dgm:spPr/>
      <dgm:t>
        <a:bodyPr/>
        <a:lstStyle/>
        <a:p>
          <a:endParaRPr lang="en-GB"/>
        </a:p>
      </dgm:t>
    </dgm:pt>
    <dgm:pt modelId="{02C4A3A2-F009-2C4E-9A24-2B45FEB698CB}">
      <dgm:prSet custT="1"/>
      <dgm:spPr/>
      <dgm:t>
        <a:bodyPr/>
        <a:lstStyle/>
        <a:p>
          <a:r>
            <a:rPr lang="en-IN" sz="1400">
              <a:solidFill>
                <a:schemeClr val="bg1"/>
              </a:solidFill>
            </a:rPr>
            <a:t>Balanced: </a:t>
          </a:r>
          <a:r>
            <a:rPr lang="en-IN" sz="1400"/>
            <a:t>29.8%</a:t>
          </a:r>
          <a:endParaRPr lang="en-IN" sz="1400" dirty="0"/>
        </a:p>
      </dgm:t>
    </dgm:pt>
    <dgm:pt modelId="{30BBEEB9-941A-2747-BCB5-D20D077B32DA}" type="parTrans" cxnId="{DE74B8A6-30D7-ED4F-9F7C-467FA1619102}">
      <dgm:prSet/>
      <dgm:spPr/>
      <dgm:t>
        <a:bodyPr/>
        <a:lstStyle/>
        <a:p>
          <a:endParaRPr lang="en-GB"/>
        </a:p>
      </dgm:t>
    </dgm:pt>
    <dgm:pt modelId="{08C386EC-8938-F846-AA14-F306F5DB0AEC}" type="sibTrans" cxnId="{DE74B8A6-30D7-ED4F-9F7C-467FA1619102}">
      <dgm:prSet/>
      <dgm:spPr/>
      <dgm:t>
        <a:bodyPr/>
        <a:lstStyle/>
        <a:p>
          <a:endParaRPr lang="en-GB"/>
        </a:p>
      </dgm:t>
    </dgm:pt>
    <dgm:pt modelId="{684FF4B9-BEDF-1048-9EB5-7F4F3CAB4054}">
      <dgm:prSet custT="1"/>
      <dgm:spPr/>
      <dgm:t>
        <a:bodyPr/>
        <a:lstStyle/>
        <a:p>
          <a:r>
            <a:rPr lang="en-IN" sz="1400" dirty="0">
              <a:solidFill>
                <a:schemeClr val="bg1"/>
              </a:solidFill>
            </a:rPr>
            <a:t>Aggressive: </a:t>
          </a:r>
          <a:r>
            <a:rPr lang="en-IN" sz="1400" dirty="0"/>
            <a:t>38.6% (Highest risk)</a:t>
          </a:r>
        </a:p>
      </dgm:t>
    </dgm:pt>
    <dgm:pt modelId="{928FAE0A-50E5-B84D-B00E-659FDF77A21E}" type="parTrans" cxnId="{FF034C8E-265C-EC42-B4BB-829872A31EBA}">
      <dgm:prSet/>
      <dgm:spPr/>
      <dgm:t>
        <a:bodyPr/>
        <a:lstStyle/>
        <a:p>
          <a:endParaRPr lang="en-GB"/>
        </a:p>
      </dgm:t>
    </dgm:pt>
    <dgm:pt modelId="{45702537-ACB1-8D41-9FB8-0198BFF27367}" type="sibTrans" cxnId="{FF034C8E-265C-EC42-B4BB-829872A31EBA}">
      <dgm:prSet/>
      <dgm:spPr/>
      <dgm:t>
        <a:bodyPr/>
        <a:lstStyle/>
        <a:p>
          <a:endParaRPr lang="en-GB"/>
        </a:p>
      </dgm:t>
    </dgm:pt>
    <dgm:pt modelId="{07DF8CF5-E422-734C-ABA5-9896393DADB3}">
      <dgm:prSet custT="1"/>
      <dgm:spPr/>
      <dgm:t>
        <a:bodyPr/>
        <a:lstStyle/>
        <a:p>
          <a:r>
            <a:rPr lang="en-IN" sz="1400">
              <a:solidFill>
                <a:schemeClr val="bg1"/>
              </a:solidFill>
            </a:rPr>
            <a:t>Nifty 50 Benchmark: </a:t>
          </a:r>
          <a:r>
            <a:rPr lang="en-IN" sz="1400"/>
            <a:t>27.3%</a:t>
          </a:r>
          <a:endParaRPr lang="en-IN" sz="1400" dirty="0"/>
        </a:p>
      </dgm:t>
    </dgm:pt>
    <dgm:pt modelId="{00426BBC-D476-7A44-8C25-E35DD9C1EE62}" type="parTrans" cxnId="{890871F6-EED7-9843-9DF0-E05725575767}">
      <dgm:prSet/>
      <dgm:spPr/>
      <dgm:t>
        <a:bodyPr/>
        <a:lstStyle/>
        <a:p>
          <a:endParaRPr lang="en-GB"/>
        </a:p>
      </dgm:t>
    </dgm:pt>
    <dgm:pt modelId="{56095CD6-C483-CF46-B903-56F628EA79CD}" type="sibTrans" cxnId="{890871F6-EED7-9843-9DF0-E05725575767}">
      <dgm:prSet/>
      <dgm:spPr/>
      <dgm:t>
        <a:bodyPr/>
        <a:lstStyle/>
        <a:p>
          <a:endParaRPr lang="en-GB"/>
        </a:p>
      </dgm:t>
    </dgm:pt>
    <dgm:pt modelId="{E0642687-3E11-EB48-97C6-362D65EDD4F5}">
      <dgm:prSet custT="1"/>
      <dgm:spPr/>
      <dgm:t>
        <a:bodyPr/>
        <a:lstStyle/>
        <a:p>
          <a:r>
            <a:rPr lang="en-IN" sz="1400" dirty="0">
              <a:solidFill>
                <a:schemeClr val="bg1"/>
              </a:solidFill>
            </a:rPr>
            <a:t>Less volatile than market</a:t>
          </a:r>
        </a:p>
      </dgm:t>
    </dgm:pt>
    <dgm:pt modelId="{61C31BF2-2ADA-E24C-83B8-D7CE7C8BE50C}" type="parTrans" cxnId="{95A0356E-9194-134D-95B5-EB198FE0BC17}">
      <dgm:prSet/>
      <dgm:spPr/>
      <dgm:t>
        <a:bodyPr/>
        <a:lstStyle/>
        <a:p>
          <a:endParaRPr lang="en-GB"/>
        </a:p>
      </dgm:t>
    </dgm:pt>
    <dgm:pt modelId="{260BAA6A-8AD0-F54F-9DAA-B508F362B9C8}" type="sibTrans" cxnId="{95A0356E-9194-134D-95B5-EB198FE0BC17}">
      <dgm:prSet/>
      <dgm:spPr/>
      <dgm:t>
        <a:bodyPr/>
        <a:lstStyle/>
        <a:p>
          <a:endParaRPr lang="en-GB"/>
        </a:p>
      </dgm:t>
    </dgm:pt>
    <dgm:pt modelId="{440F5C6D-8A37-1346-8F94-3CD7CBB10ACF}">
      <dgm:prSet custT="1"/>
      <dgm:spPr/>
      <dgm:t>
        <a:bodyPr/>
        <a:lstStyle/>
        <a:p>
          <a:r>
            <a:rPr lang="en-IN" sz="1400" dirty="0">
              <a:solidFill>
                <a:schemeClr val="bg1"/>
              </a:solidFill>
            </a:rPr>
            <a:t>Balanced: </a:t>
          </a:r>
          <a:r>
            <a:rPr lang="en-IN" sz="1400" dirty="0"/>
            <a:t>₹41,000 daily loss max</a:t>
          </a:r>
        </a:p>
      </dgm:t>
    </dgm:pt>
    <dgm:pt modelId="{79FF9181-E99D-CE4A-A19A-837BB8B6E713}" type="parTrans" cxnId="{CFAD8569-6B1D-2840-8607-1E0407858E0B}">
      <dgm:prSet/>
      <dgm:spPr/>
      <dgm:t>
        <a:bodyPr/>
        <a:lstStyle/>
        <a:p>
          <a:endParaRPr lang="en-GB"/>
        </a:p>
      </dgm:t>
    </dgm:pt>
    <dgm:pt modelId="{FA5AA1BC-2460-0144-870E-7CFD83583DB3}" type="sibTrans" cxnId="{CFAD8569-6B1D-2840-8607-1E0407858E0B}">
      <dgm:prSet/>
      <dgm:spPr/>
      <dgm:t>
        <a:bodyPr/>
        <a:lstStyle/>
        <a:p>
          <a:endParaRPr lang="en-GB"/>
        </a:p>
      </dgm:t>
    </dgm:pt>
    <dgm:pt modelId="{253E1A8B-66F4-AC45-88E2-E0210DD82BA3}">
      <dgm:prSet custT="1"/>
      <dgm:spPr/>
      <dgm:t>
        <a:bodyPr/>
        <a:lstStyle/>
        <a:p>
          <a:r>
            <a:rPr lang="en-IN" sz="1400" dirty="0">
              <a:solidFill>
                <a:schemeClr val="bg1"/>
              </a:solidFill>
            </a:rPr>
            <a:t>Aggressive: </a:t>
          </a:r>
          <a:r>
            <a:rPr lang="en-IN" sz="1400" dirty="0"/>
            <a:t>₹53,000 daily loss max</a:t>
          </a:r>
          <a:br>
            <a:rPr lang="en-IN" sz="1400" dirty="0"/>
          </a:br>
          <a:r>
            <a:rPr lang="en-IN" sz="1400" i="1" dirty="0">
              <a:solidFill>
                <a:schemeClr val="bg1"/>
              </a:solidFill>
            </a:rPr>
            <a:t>(On ₹10 lakh investment</a:t>
          </a:r>
          <a:endParaRPr lang="en-US" sz="1400" dirty="0"/>
        </a:p>
      </dgm:t>
    </dgm:pt>
    <dgm:pt modelId="{5FF173CB-C2D7-734C-8315-02760251D9E5}" type="parTrans" cxnId="{DDBFF395-7E10-C94A-AD2B-C3CA6278E4F8}">
      <dgm:prSet/>
      <dgm:spPr/>
      <dgm:t>
        <a:bodyPr/>
        <a:lstStyle/>
        <a:p>
          <a:endParaRPr lang="en-GB"/>
        </a:p>
      </dgm:t>
    </dgm:pt>
    <dgm:pt modelId="{BDF02ADB-C998-BA4C-83C3-0CAF079C3F9F}" type="sibTrans" cxnId="{DDBFF395-7E10-C94A-AD2B-C3CA6278E4F8}">
      <dgm:prSet/>
      <dgm:spPr/>
      <dgm:t>
        <a:bodyPr/>
        <a:lstStyle/>
        <a:p>
          <a:endParaRPr lang="en-GB"/>
        </a:p>
      </dgm:t>
    </dgm:pt>
    <dgm:pt modelId="{BE09E157-3904-F242-A34C-AA9D88D67DE5}" type="pres">
      <dgm:prSet presAssocID="{790E0827-0B5A-3E4D-B51D-7E1DB18A8125}" presName="Name0" presStyleCnt="0">
        <dgm:presLayoutVars>
          <dgm:dir/>
          <dgm:animLvl val="lvl"/>
          <dgm:resizeHandles val="exact"/>
        </dgm:presLayoutVars>
      </dgm:prSet>
      <dgm:spPr/>
    </dgm:pt>
    <dgm:pt modelId="{8D535BFC-6D57-AC45-80C9-7B7CFED3874F}" type="pres">
      <dgm:prSet presAssocID="{47E7F076-BB38-1D42-8EF6-D4C5CE307C4F}" presName="composite" presStyleCnt="0"/>
      <dgm:spPr/>
    </dgm:pt>
    <dgm:pt modelId="{2E60BAD7-074D-AF40-A470-31FD03E0ADF2}" type="pres">
      <dgm:prSet presAssocID="{47E7F076-BB38-1D42-8EF6-D4C5CE307C4F}" presName="parTx" presStyleLbl="alignNode1" presStyleIdx="0" presStyleCnt="3" custLinFactNeighborX="1996" custLinFactNeighborY="-2495">
        <dgm:presLayoutVars>
          <dgm:chMax val="0"/>
          <dgm:chPref val="0"/>
          <dgm:bulletEnabled val="1"/>
        </dgm:presLayoutVars>
      </dgm:prSet>
      <dgm:spPr/>
    </dgm:pt>
    <dgm:pt modelId="{62363147-AA4D-A045-9A73-6B1F8AB4565C}" type="pres">
      <dgm:prSet presAssocID="{47E7F076-BB38-1D42-8EF6-D4C5CE307C4F}" presName="desTx" presStyleLbl="alignAccFollowNode1" presStyleIdx="0" presStyleCnt="3" custLinFactNeighborX="2495" custLinFactNeighborY="-649">
        <dgm:presLayoutVars>
          <dgm:bulletEnabled val="1"/>
        </dgm:presLayoutVars>
      </dgm:prSet>
      <dgm:spPr/>
    </dgm:pt>
    <dgm:pt modelId="{05BAE08E-D34B-A648-8D1C-C8F79B5F3DA4}" type="pres">
      <dgm:prSet presAssocID="{8C44A880-7056-6D49-B4A3-7C35B3B9DCAD}" presName="space" presStyleCnt="0"/>
      <dgm:spPr/>
    </dgm:pt>
    <dgm:pt modelId="{00E9863A-D157-1049-9B20-9EFF641ADE61}" type="pres">
      <dgm:prSet presAssocID="{4E6C981B-A88F-B142-99B1-6B0D9DC75779}" presName="composite" presStyleCnt="0"/>
      <dgm:spPr/>
    </dgm:pt>
    <dgm:pt modelId="{CA491F51-C8A0-6B41-BEAA-B11DDD922CFC}" type="pres">
      <dgm:prSet presAssocID="{4E6C981B-A88F-B142-99B1-6B0D9DC7577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ED23B7F-9D77-9C43-81DD-F8D1D0C20743}" type="pres">
      <dgm:prSet presAssocID="{4E6C981B-A88F-B142-99B1-6B0D9DC75779}" presName="desTx" presStyleLbl="alignAccFollowNode1" presStyleIdx="1" presStyleCnt="3" custScaleY="100000" custLinFactNeighborX="250" custLinFactNeighborY="1616">
        <dgm:presLayoutVars>
          <dgm:bulletEnabled val="1"/>
        </dgm:presLayoutVars>
      </dgm:prSet>
      <dgm:spPr/>
    </dgm:pt>
    <dgm:pt modelId="{AA45C009-F64E-0946-AB01-F9A0EDEF6BAB}" type="pres">
      <dgm:prSet presAssocID="{D21F498A-F010-1F46-AD0A-CEA6A54FDE14}" presName="space" presStyleCnt="0"/>
      <dgm:spPr/>
    </dgm:pt>
    <dgm:pt modelId="{C822E769-8623-EA41-8332-4423FC331C38}" type="pres">
      <dgm:prSet presAssocID="{ECFAB08D-1097-3342-A330-312770EC4E37}" presName="composite" presStyleCnt="0"/>
      <dgm:spPr/>
    </dgm:pt>
    <dgm:pt modelId="{7D3B130A-9F43-2A44-8E54-3630CCB010B4}" type="pres">
      <dgm:prSet presAssocID="{ECFAB08D-1097-3342-A330-312770EC4E3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2D3E464-C60C-7A47-AC49-1F12C94388B3}" type="pres">
      <dgm:prSet presAssocID="{ECFAB08D-1097-3342-A330-312770EC4E37}" presName="desTx" presStyleLbl="alignAccFollowNode1" presStyleIdx="2" presStyleCnt="3" custLinFactNeighborX="526" custLinFactNeighborY="1569">
        <dgm:presLayoutVars>
          <dgm:bulletEnabled val="1"/>
        </dgm:presLayoutVars>
      </dgm:prSet>
      <dgm:spPr/>
    </dgm:pt>
  </dgm:ptLst>
  <dgm:cxnLst>
    <dgm:cxn modelId="{625EE101-7659-EF42-B3AA-7B2AE3DAAD09}" srcId="{4E6C981B-A88F-B142-99B1-6B0D9DC75779}" destId="{904503DC-5F44-9842-A6D5-BF03255D21A1}" srcOrd="0" destOrd="0" parTransId="{694B92E4-F067-154F-8F1F-530C379597F5}" sibTransId="{CF2DC6A6-9C3A-574C-A668-315F56E5FFF4}"/>
    <dgm:cxn modelId="{044E2307-E6BE-4947-875F-E8BE3D5CD53A}" type="presOf" srcId="{47E7F076-BB38-1D42-8EF6-D4C5CE307C4F}" destId="{2E60BAD7-074D-AF40-A470-31FD03E0ADF2}" srcOrd="0" destOrd="0" presId="urn:microsoft.com/office/officeart/2005/8/layout/hList1"/>
    <dgm:cxn modelId="{3F928829-6252-DF45-B596-DD5254FDEEEB}" type="presOf" srcId="{0B20FB17-4935-5840-B937-17B60CF37D88}" destId="{42D3E464-C60C-7A47-AC49-1F12C94388B3}" srcOrd="0" destOrd="0" presId="urn:microsoft.com/office/officeart/2005/8/layout/hList1"/>
    <dgm:cxn modelId="{1EFD5E33-2A12-DD49-92F4-920EC7602ED6}" type="presOf" srcId="{CC17FAA2-5F77-BA48-B866-BF034317A231}" destId="{62363147-AA4D-A045-9A73-6B1F8AB4565C}" srcOrd="0" destOrd="0" presId="urn:microsoft.com/office/officeart/2005/8/layout/hList1"/>
    <dgm:cxn modelId="{DC1B2B3E-3C46-F541-8556-6DD1711D0F95}" type="presOf" srcId="{790E0827-0B5A-3E4D-B51D-7E1DB18A8125}" destId="{BE09E157-3904-F242-A34C-AA9D88D67DE5}" srcOrd="0" destOrd="0" presId="urn:microsoft.com/office/officeart/2005/8/layout/hList1"/>
    <dgm:cxn modelId="{C5B86A3E-F823-2240-845E-63F8AECB6892}" srcId="{47E7F076-BB38-1D42-8EF6-D4C5CE307C4F}" destId="{CC17FAA2-5F77-BA48-B866-BF034317A231}" srcOrd="0" destOrd="0" parTransId="{8D01AB92-BC6E-4943-881D-A8D74FD6BCC1}" sibTransId="{0C4CD6DA-5BCD-C84F-8422-9B489C6DBAEA}"/>
    <dgm:cxn modelId="{5729D746-0A47-C242-9343-25D8E3A0ED22}" type="presOf" srcId="{684FF4B9-BEDF-1048-9EB5-7F4F3CAB4054}" destId="{62363147-AA4D-A045-9A73-6B1F8AB4565C}" srcOrd="0" destOrd="2" presId="urn:microsoft.com/office/officeart/2005/8/layout/hList1"/>
    <dgm:cxn modelId="{779AA45B-1E3D-524B-AF37-90F160A4CE61}" type="presOf" srcId="{4E6C981B-A88F-B142-99B1-6B0D9DC75779}" destId="{CA491F51-C8A0-6B41-BEAA-B11DDD922CFC}" srcOrd="0" destOrd="0" presId="urn:microsoft.com/office/officeart/2005/8/layout/hList1"/>
    <dgm:cxn modelId="{CFAD8569-6B1D-2840-8607-1E0407858E0B}" srcId="{ECFAB08D-1097-3342-A330-312770EC4E37}" destId="{440F5C6D-8A37-1346-8F94-3CD7CBB10ACF}" srcOrd="1" destOrd="0" parTransId="{79FF9181-E99D-CE4A-A19A-837BB8B6E713}" sibTransId="{FA5AA1BC-2460-0144-870E-7CFD83583DB3}"/>
    <dgm:cxn modelId="{95A0356E-9194-134D-95B5-EB198FE0BC17}" srcId="{4E6C981B-A88F-B142-99B1-6B0D9DC75779}" destId="{E0642687-3E11-EB48-97C6-362D65EDD4F5}" srcOrd="1" destOrd="0" parTransId="{61C31BF2-2ADA-E24C-83B8-D7CE7C8BE50C}" sibTransId="{260BAA6A-8AD0-F54F-9DAA-B508F362B9C8}"/>
    <dgm:cxn modelId="{4E89AC77-D2EE-C046-8FBC-6982E1DC5F14}" srcId="{790E0827-0B5A-3E4D-B51D-7E1DB18A8125}" destId="{ECFAB08D-1097-3342-A330-312770EC4E37}" srcOrd="2" destOrd="0" parTransId="{A11188D9-A1C6-3C43-818E-9A709C93D2D9}" sibTransId="{BEBC79E9-1B0B-C748-B069-BFC19C873921}"/>
    <dgm:cxn modelId="{D7D98984-1C44-7E4C-ADF7-C5D96D8F8FD2}" srcId="{790E0827-0B5A-3E4D-B51D-7E1DB18A8125}" destId="{47E7F076-BB38-1D42-8EF6-D4C5CE307C4F}" srcOrd="0" destOrd="0" parTransId="{78AC2969-918F-EA46-A38F-C4B57458212F}" sibTransId="{8C44A880-7056-6D49-B4A3-7C35B3B9DCAD}"/>
    <dgm:cxn modelId="{FF034C8E-265C-EC42-B4BB-829872A31EBA}" srcId="{47E7F076-BB38-1D42-8EF6-D4C5CE307C4F}" destId="{684FF4B9-BEDF-1048-9EB5-7F4F3CAB4054}" srcOrd="2" destOrd="0" parTransId="{928FAE0A-50E5-B84D-B00E-659FDF77A21E}" sibTransId="{45702537-ACB1-8D41-9FB8-0198BFF27367}"/>
    <dgm:cxn modelId="{E97ED692-EAE2-DF47-8881-617934F761A5}" type="presOf" srcId="{02C4A3A2-F009-2C4E-9A24-2B45FEB698CB}" destId="{62363147-AA4D-A045-9A73-6B1F8AB4565C}" srcOrd="0" destOrd="1" presId="urn:microsoft.com/office/officeart/2005/8/layout/hList1"/>
    <dgm:cxn modelId="{E11A2A93-C729-9A4C-B806-7C49AAB59F3E}" type="presOf" srcId="{440F5C6D-8A37-1346-8F94-3CD7CBB10ACF}" destId="{42D3E464-C60C-7A47-AC49-1F12C94388B3}" srcOrd="0" destOrd="1" presId="urn:microsoft.com/office/officeart/2005/8/layout/hList1"/>
    <dgm:cxn modelId="{DDBFF395-7E10-C94A-AD2B-C3CA6278E4F8}" srcId="{ECFAB08D-1097-3342-A330-312770EC4E37}" destId="{253E1A8B-66F4-AC45-88E2-E0210DD82BA3}" srcOrd="2" destOrd="0" parTransId="{5FF173CB-C2D7-734C-8315-02760251D9E5}" sibTransId="{BDF02ADB-C998-BA4C-83C3-0CAF079C3F9F}"/>
    <dgm:cxn modelId="{75A8E19F-FD76-DF43-B69E-327E0C3BCCCD}" srcId="{ECFAB08D-1097-3342-A330-312770EC4E37}" destId="{0B20FB17-4935-5840-B937-17B60CF37D88}" srcOrd="0" destOrd="0" parTransId="{5CD14D33-2002-5A4F-BD7F-75180B2B83E0}" sibTransId="{560C2707-5A33-C34A-867A-8B434A0DB681}"/>
    <dgm:cxn modelId="{B84B43A6-DC9B-F347-8768-2838F65046E7}" type="presOf" srcId="{E0642687-3E11-EB48-97C6-362D65EDD4F5}" destId="{2ED23B7F-9D77-9C43-81DD-F8D1D0C20743}" srcOrd="0" destOrd="1" presId="urn:microsoft.com/office/officeart/2005/8/layout/hList1"/>
    <dgm:cxn modelId="{DE74B8A6-30D7-ED4F-9F7C-467FA1619102}" srcId="{47E7F076-BB38-1D42-8EF6-D4C5CE307C4F}" destId="{02C4A3A2-F009-2C4E-9A24-2B45FEB698CB}" srcOrd="1" destOrd="0" parTransId="{30BBEEB9-941A-2747-BCB5-D20D077B32DA}" sibTransId="{08C386EC-8938-F846-AA14-F306F5DB0AEC}"/>
    <dgm:cxn modelId="{488B9BB9-1853-2645-B410-223A3A5EFDB0}" type="presOf" srcId="{07DF8CF5-E422-734C-ABA5-9896393DADB3}" destId="{62363147-AA4D-A045-9A73-6B1F8AB4565C}" srcOrd="0" destOrd="3" presId="urn:microsoft.com/office/officeart/2005/8/layout/hList1"/>
    <dgm:cxn modelId="{9A36D2BD-2292-CE4E-8C9D-0082E8161960}" srcId="{790E0827-0B5A-3E4D-B51D-7E1DB18A8125}" destId="{4E6C981B-A88F-B142-99B1-6B0D9DC75779}" srcOrd="1" destOrd="0" parTransId="{C0D6392B-A796-544D-AC20-A394CB01298F}" sibTransId="{D21F498A-F010-1F46-AD0A-CEA6A54FDE14}"/>
    <dgm:cxn modelId="{879BF5CA-1C96-ED46-95F8-EB7531C5648D}" type="presOf" srcId="{ECFAB08D-1097-3342-A330-312770EC4E37}" destId="{7D3B130A-9F43-2A44-8E54-3630CCB010B4}" srcOrd="0" destOrd="0" presId="urn:microsoft.com/office/officeart/2005/8/layout/hList1"/>
    <dgm:cxn modelId="{BF4D1CE9-F249-6A43-8456-A61EA19BC749}" type="presOf" srcId="{904503DC-5F44-9842-A6D5-BF03255D21A1}" destId="{2ED23B7F-9D77-9C43-81DD-F8D1D0C20743}" srcOrd="0" destOrd="0" presId="urn:microsoft.com/office/officeart/2005/8/layout/hList1"/>
    <dgm:cxn modelId="{4D7E58F3-6DC2-534E-9223-571E3F7950D2}" type="presOf" srcId="{253E1A8B-66F4-AC45-88E2-E0210DD82BA3}" destId="{42D3E464-C60C-7A47-AC49-1F12C94388B3}" srcOrd="0" destOrd="2" presId="urn:microsoft.com/office/officeart/2005/8/layout/hList1"/>
    <dgm:cxn modelId="{890871F6-EED7-9843-9DF0-E05725575767}" srcId="{47E7F076-BB38-1D42-8EF6-D4C5CE307C4F}" destId="{07DF8CF5-E422-734C-ABA5-9896393DADB3}" srcOrd="3" destOrd="0" parTransId="{00426BBC-D476-7A44-8C25-E35DD9C1EE62}" sibTransId="{56095CD6-C483-CF46-B903-56F628EA79CD}"/>
    <dgm:cxn modelId="{C65492B2-E9B0-0E46-8A9B-D8F86796D565}" type="presParOf" srcId="{BE09E157-3904-F242-A34C-AA9D88D67DE5}" destId="{8D535BFC-6D57-AC45-80C9-7B7CFED3874F}" srcOrd="0" destOrd="0" presId="urn:microsoft.com/office/officeart/2005/8/layout/hList1"/>
    <dgm:cxn modelId="{CD1BD8B9-0EE6-0E4E-9411-2EDA3293947A}" type="presParOf" srcId="{8D535BFC-6D57-AC45-80C9-7B7CFED3874F}" destId="{2E60BAD7-074D-AF40-A470-31FD03E0ADF2}" srcOrd="0" destOrd="0" presId="urn:microsoft.com/office/officeart/2005/8/layout/hList1"/>
    <dgm:cxn modelId="{94102574-30D4-E143-872E-CD5F508EF97C}" type="presParOf" srcId="{8D535BFC-6D57-AC45-80C9-7B7CFED3874F}" destId="{62363147-AA4D-A045-9A73-6B1F8AB4565C}" srcOrd="1" destOrd="0" presId="urn:microsoft.com/office/officeart/2005/8/layout/hList1"/>
    <dgm:cxn modelId="{3D997D26-2F32-4545-8F74-36BFCF7D6148}" type="presParOf" srcId="{BE09E157-3904-F242-A34C-AA9D88D67DE5}" destId="{05BAE08E-D34B-A648-8D1C-C8F79B5F3DA4}" srcOrd="1" destOrd="0" presId="urn:microsoft.com/office/officeart/2005/8/layout/hList1"/>
    <dgm:cxn modelId="{FF14084F-EAEB-FC41-BF17-AD7589EA925B}" type="presParOf" srcId="{BE09E157-3904-F242-A34C-AA9D88D67DE5}" destId="{00E9863A-D157-1049-9B20-9EFF641ADE61}" srcOrd="2" destOrd="0" presId="urn:microsoft.com/office/officeart/2005/8/layout/hList1"/>
    <dgm:cxn modelId="{ABE4E02C-645D-DD44-8EF8-3A8F7E3F4FAE}" type="presParOf" srcId="{00E9863A-D157-1049-9B20-9EFF641ADE61}" destId="{CA491F51-C8A0-6B41-BEAA-B11DDD922CFC}" srcOrd="0" destOrd="0" presId="urn:microsoft.com/office/officeart/2005/8/layout/hList1"/>
    <dgm:cxn modelId="{36C7B65A-C4F1-EB44-8B1D-F00EDA1BE7F0}" type="presParOf" srcId="{00E9863A-D157-1049-9B20-9EFF641ADE61}" destId="{2ED23B7F-9D77-9C43-81DD-F8D1D0C20743}" srcOrd="1" destOrd="0" presId="urn:microsoft.com/office/officeart/2005/8/layout/hList1"/>
    <dgm:cxn modelId="{9650B373-6512-8240-A2FA-4634D6030B00}" type="presParOf" srcId="{BE09E157-3904-F242-A34C-AA9D88D67DE5}" destId="{AA45C009-F64E-0946-AB01-F9A0EDEF6BAB}" srcOrd="3" destOrd="0" presId="urn:microsoft.com/office/officeart/2005/8/layout/hList1"/>
    <dgm:cxn modelId="{0EB5C6A2-A8A9-0A4A-883A-EDD2E1827106}" type="presParOf" srcId="{BE09E157-3904-F242-A34C-AA9D88D67DE5}" destId="{C822E769-8623-EA41-8332-4423FC331C38}" srcOrd="4" destOrd="0" presId="urn:microsoft.com/office/officeart/2005/8/layout/hList1"/>
    <dgm:cxn modelId="{FF18FEE5-6214-664B-8D75-120F26CFE7EF}" type="presParOf" srcId="{C822E769-8623-EA41-8332-4423FC331C38}" destId="{7D3B130A-9F43-2A44-8E54-3630CCB010B4}" srcOrd="0" destOrd="0" presId="urn:microsoft.com/office/officeart/2005/8/layout/hList1"/>
    <dgm:cxn modelId="{F738FD71-36A8-C748-A507-2E3385253B27}" type="presParOf" srcId="{C822E769-8623-EA41-8332-4423FC331C38}" destId="{42D3E464-C60C-7A47-AC49-1F12C94388B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854184-A3AC-7646-A51E-28DAB0DA80F0}" type="doc">
      <dgm:prSet loTypeId="urn:microsoft.com/office/officeart/2005/8/layout/matrix3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EE96F0D-72E0-404F-9903-95B5699C3473}">
      <dgm:prSet phldrT="[Text]"/>
      <dgm:spPr/>
      <dgm:t>
        <a:bodyPr/>
        <a:lstStyle/>
        <a:p>
          <a:r>
            <a:rPr lang="en-US" dirty="0"/>
            <a:t>✅ ACHIEVEMENTS</a:t>
          </a:r>
        </a:p>
        <a:p>
          <a:endParaRPr lang="en-US" dirty="0"/>
        </a:p>
        <a:p>
          <a:r>
            <a:rPr lang="en-US" dirty="0"/>
            <a:t>• 15 stocks analyzed</a:t>
          </a:r>
        </a:p>
        <a:p>
          <a:r>
            <a:rPr lang="en-US" dirty="0"/>
            <a:t>• 3 portfolios created</a:t>
          </a:r>
        </a:p>
        <a:p>
          <a:r>
            <a:rPr lang="en-US" dirty="0"/>
            <a:t>• All beat Nifty 50</a:t>
          </a:r>
        </a:p>
        <a:p>
          <a:r>
            <a:rPr lang="en-US" dirty="0"/>
            <a:t>• Sharpe ratios &gt;0.75</a:t>
          </a:r>
        </a:p>
        <a:p>
          <a:r>
            <a:rPr lang="en-US" dirty="0"/>
            <a:t>• Interactive dashboard</a:t>
          </a:r>
          <a:endParaRPr lang="en-GB" dirty="0"/>
        </a:p>
      </dgm:t>
    </dgm:pt>
    <dgm:pt modelId="{BF53A8E4-D49F-9541-8AD1-0B5BFB8A9460}" type="parTrans" cxnId="{3C8E5F67-1052-D041-86B5-B5271EA42E8E}">
      <dgm:prSet/>
      <dgm:spPr/>
      <dgm:t>
        <a:bodyPr/>
        <a:lstStyle/>
        <a:p>
          <a:endParaRPr lang="en-GB"/>
        </a:p>
      </dgm:t>
    </dgm:pt>
    <dgm:pt modelId="{C569128A-920F-FE45-864E-538745ACDDF2}" type="sibTrans" cxnId="{3C8E5F67-1052-D041-86B5-B5271EA42E8E}">
      <dgm:prSet/>
      <dgm:spPr/>
      <dgm:t>
        <a:bodyPr/>
        <a:lstStyle/>
        <a:p>
          <a:endParaRPr lang="en-GB"/>
        </a:p>
      </dgm:t>
    </dgm:pt>
    <dgm:pt modelId="{CF2D015A-A791-3649-BB0D-D006ABCC17DF}">
      <dgm:prSet phldrT="[Text]"/>
      <dgm:spPr/>
      <dgm:t>
        <a:bodyPr/>
        <a:lstStyle/>
        <a:p>
          <a:r>
            <a:rPr lang="en-GB" dirty="0"/>
            <a:t>💼 BUSINESS VALUE
• Reduce investor losses by 30%
• Save advisory time
• Improve retention by 25%</a:t>
          </a:r>
        </a:p>
      </dgm:t>
    </dgm:pt>
    <dgm:pt modelId="{40E969A7-D238-2D4D-8893-3F6E3A6A6F2C}" type="parTrans" cxnId="{1C0D38B3-3445-B540-8265-1D741CF0D16E}">
      <dgm:prSet/>
      <dgm:spPr/>
      <dgm:t>
        <a:bodyPr/>
        <a:lstStyle/>
        <a:p>
          <a:endParaRPr lang="en-GB"/>
        </a:p>
      </dgm:t>
    </dgm:pt>
    <dgm:pt modelId="{8EA14745-ED80-2A4A-AAC9-CCE0309C6426}" type="sibTrans" cxnId="{1C0D38B3-3445-B540-8265-1D741CF0D16E}">
      <dgm:prSet/>
      <dgm:spPr/>
      <dgm:t>
        <a:bodyPr/>
        <a:lstStyle/>
        <a:p>
          <a:endParaRPr lang="en-GB"/>
        </a:p>
      </dgm:t>
    </dgm:pt>
    <dgm:pt modelId="{2DE94558-21B7-EB4A-B01A-1B3376188F85}">
      <dgm:prSet/>
      <dgm:spPr/>
      <dgm:t>
        <a:bodyPr/>
        <a:lstStyle/>
        <a:p>
          <a:r>
            <a:rPr lang="en-GB" dirty="0"/>
            <a:t>⚠️ LIMITATIONS
• Historical data only
• No transaction costs
• Past ≠ Future</a:t>
          </a:r>
        </a:p>
      </dgm:t>
    </dgm:pt>
    <dgm:pt modelId="{15FC23E9-800B-B145-B94C-30B220F9BDC0}" type="parTrans" cxnId="{9D4B02F9-BA86-7C47-8EB0-F7E2110E5E0E}">
      <dgm:prSet/>
      <dgm:spPr/>
      <dgm:t>
        <a:bodyPr/>
        <a:lstStyle/>
        <a:p>
          <a:endParaRPr lang="en-GB"/>
        </a:p>
      </dgm:t>
    </dgm:pt>
    <dgm:pt modelId="{2505CD8E-34AE-BC4B-A976-2755A9A7FCAF}" type="sibTrans" cxnId="{9D4B02F9-BA86-7C47-8EB0-F7E2110E5E0E}">
      <dgm:prSet/>
      <dgm:spPr/>
      <dgm:t>
        <a:bodyPr/>
        <a:lstStyle/>
        <a:p>
          <a:endParaRPr lang="en-GB"/>
        </a:p>
      </dgm:t>
    </dgm:pt>
    <dgm:pt modelId="{35CE1A1F-0528-6646-9E67-65D2E7F6D722}">
      <dgm:prSet/>
      <dgm:spPr/>
      <dgm:t>
        <a:bodyPr/>
        <a:lstStyle/>
        <a:p>
          <a:r>
            <a:rPr lang="en-GB"/>
            <a:t>📊 DELIVERABLES
✓ Jupyter notebook
✓ Tableau dashboard
✓ Strategy document
✓ This presentation
</a:t>
          </a:r>
          <a:endParaRPr lang="en-GB" dirty="0"/>
        </a:p>
      </dgm:t>
    </dgm:pt>
    <dgm:pt modelId="{DC947752-6C7B-F74C-9D1F-B3C72778614B}" type="parTrans" cxnId="{93F8F8DC-8A2B-8641-A56C-87CD4579ED47}">
      <dgm:prSet/>
      <dgm:spPr/>
      <dgm:t>
        <a:bodyPr/>
        <a:lstStyle/>
        <a:p>
          <a:endParaRPr lang="en-GB"/>
        </a:p>
      </dgm:t>
    </dgm:pt>
    <dgm:pt modelId="{B1CD8E3D-F46D-8041-81EB-BAAF21984301}" type="sibTrans" cxnId="{93F8F8DC-8A2B-8641-A56C-87CD4579ED47}">
      <dgm:prSet/>
      <dgm:spPr/>
      <dgm:t>
        <a:bodyPr/>
        <a:lstStyle/>
        <a:p>
          <a:endParaRPr lang="en-GB"/>
        </a:p>
      </dgm:t>
    </dgm:pt>
    <dgm:pt modelId="{F19DD94B-E5CB-9143-9072-6A0129AB3903}" type="pres">
      <dgm:prSet presAssocID="{9A854184-A3AC-7646-A51E-28DAB0DA80F0}" presName="matrix" presStyleCnt="0">
        <dgm:presLayoutVars>
          <dgm:chMax val="1"/>
          <dgm:dir/>
          <dgm:resizeHandles val="exact"/>
        </dgm:presLayoutVars>
      </dgm:prSet>
      <dgm:spPr/>
    </dgm:pt>
    <dgm:pt modelId="{C2EC2EF1-DC5F-1B46-BB07-02A3AE16400D}" type="pres">
      <dgm:prSet presAssocID="{9A854184-A3AC-7646-A51E-28DAB0DA80F0}" presName="diamond" presStyleLbl="bgShp" presStyleIdx="0" presStyleCnt="1" custLinFactNeighborX="0" custLinFactNeighborY="5029"/>
      <dgm:spPr/>
    </dgm:pt>
    <dgm:pt modelId="{04A3B9D3-D3CA-AC4B-9BC1-9A3AA8F70365}" type="pres">
      <dgm:prSet presAssocID="{9A854184-A3AC-7646-A51E-28DAB0DA80F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56730DA-2D7B-564E-8720-C27D58798622}" type="pres">
      <dgm:prSet presAssocID="{9A854184-A3AC-7646-A51E-28DAB0DA80F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7D5DEFF-072D-0449-829E-0E6180FD8B62}" type="pres">
      <dgm:prSet presAssocID="{9A854184-A3AC-7646-A51E-28DAB0DA80F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3A0CCD-8CAE-D840-9015-52FFBAF06613}" type="pres">
      <dgm:prSet presAssocID="{9A854184-A3AC-7646-A51E-28DAB0DA80F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8D88828-C3BA-BD41-A732-4C55774838D2}" type="presOf" srcId="{CF2D015A-A791-3649-BB0D-D006ABCC17DF}" destId="{756730DA-2D7B-564E-8720-C27D58798622}" srcOrd="0" destOrd="0" presId="urn:microsoft.com/office/officeart/2005/8/layout/matrix3"/>
    <dgm:cxn modelId="{6DFD8C31-5B8B-3841-8031-E56AD2DA1E55}" type="presOf" srcId="{2EE96F0D-72E0-404F-9903-95B5699C3473}" destId="{04A3B9D3-D3CA-AC4B-9BC1-9A3AA8F70365}" srcOrd="0" destOrd="0" presId="urn:microsoft.com/office/officeart/2005/8/layout/matrix3"/>
    <dgm:cxn modelId="{9024763F-CF40-384C-82ED-81AE4710E649}" type="presOf" srcId="{35CE1A1F-0528-6646-9E67-65D2E7F6D722}" destId="{933A0CCD-8CAE-D840-9015-52FFBAF06613}" srcOrd="0" destOrd="0" presId="urn:microsoft.com/office/officeart/2005/8/layout/matrix3"/>
    <dgm:cxn modelId="{D2A37456-7BC6-CC47-AAD3-5F393F8638E4}" type="presOf" srcId="{9A854184-A3AC-7646-A51E-28DAB0DA80F0}" destId="{F19DD94B-E5CB-9143-9072-6A0129AB3903}" srcOrd="0" destOrd="0" presId="urn:microsoft.com/office/officeart/2005/8/layout/matrix3"/>
    <dgm:cxn modelId="{3C8E5F67-1052-D041-86B5-B5271EA42E8E}" srcId="{9A854184-A3AC-7646-A51E-28DAB0DA80F0}" destId="{2EE96F0D-72E0-404F-9903-95B5699C3473}" srcOrd="0" destOrd="0" parTransId="{BF53A8E4-D49F-9541-8AD1-0B5BFB8A9460}" sibTransId="{C569128A-920F-FE45-864E-538745ACDDF2}"/>
    <dgm:cxn modelId="{53E0F6A4-C9B2-9140-8CF1-15C8D2D359C0}" type="presOf" srcId="{2DE94558-21B7-EB4A-B01A-1B3376188F85}" destId="{07D5DEFF-072D-0449-829E-0E6180FD8B62}" srcOrd="0" destOrd="0" presId="urn:microsoft.com/office/officeart/2005/8/layout/matrix3"/>
    <dgm:cxn modelId="{1C0D38B3-3445-B540-8265-1D741CF0D16E}" srcId="{9A854184-A3AC-7646-A51E-28DAB0DA80F0}" destId="{CF2D015A-A791-3649-BB0D-D006ABCC17DF}" srcOrd="1" destOrd="0" parTransId="{40E969A7-D238-2D4D-8893-3F6E3A6A6F2C}" sibTransId="{8EA14745-ED80-2A4A-AAC9-CCE0309C6426}"/>
    <dgm:cxn modelId="{93F8F8DC-8A2B-8641-A56C-87CD4579ED47}" srcId="{9A854184-A3AC-7646-A51E-28DAB0DA80F0}" destId="{35CE1A1F-0528-6646-9E67-65D2E7F6D722}" srcOrd="3" destOrd="0" parTransId="{DC947752-6C7B-F74C-9D1F-B3C72778614B}" sibTransId="{B1CD8E3D-F46D-8041-81EB-BAAF21984301}"/>
    <dgm:cxn modelId="{9D4B02F9-BA86-7C47-8EB0-F7E2110E5E0E}" srcId="{9A854184-A3AC-7646-A51E-28DAB0DA80F0}" destId="{2DE94558-21B7-EB4A-B01A-1B3376188F85}" srcOrd="2" destOrd="0" parTransId="{15FC23E9-800B-B145-B94C-30B220F9BDC0}" sibTransId="{2505CD8E-34AE-BC4B-A976-2755A9A7FCAF}"/>
    <dgm:cxn modelId="{E360ACA5-E852-7F40-ADDD-C27B188B2527}" type="presParOf" srcId="{F19DD94B-E5CB-9143-9072-6A0129AB3903}" destId="{C2EC2EF1-DC5F-1B46-BB07-02A3AE16400D}" srcOrd="0" destOrd="0" presId="urn:microsoft.com/office/officeart/2005/8/layout/matrix3"/>
    <dgm:cxn modelId="{C9CB172D-38FF-504A-98A3-6F43406173B3}" type="presParOf" srcId="{F19DD94B-E5CB-9143-9072-6A0129AB3903}" destId="{04A3B9D3-D3CA-AC4B-9BC1-9A3AA8F70365}" srcOrd="1" destOrd="0" presId="urn:microsoft.com/office/officeart/2005/8/layout/matrix3"/>
    <dgm:cxn modelId="{F75C3B0B-124B-DC40-A706-AC552ABED312}" type="presParOf" srcId="{F19DD94B-E5CB-9143-9072-6A0129AB3903}" destId="{756730DA-2D7B-564E-8720-C27D58798622}" srcOrd="2" destOrd="0" presId="urn:microsoft.com/office/officeart/2005/8/layout/matrix3"/>
    <dgm:cxn modelId="{70B33CF4-5EA1-2742-9287-9D85B8989078}" type="presParOf" srcId="{F19DD94B-E5CB-9143-9072-6A0129AB3903}" destId="{07D5DEFF-072D-0449-829E-0E6180FD8B62}" srcOrd="3" destOrd="0" presId="urn:microsoft.com/office/officeart/2005/8/layout/matrix3"/>
    <dgm:cxn modelId="{5016BC71-8CE2-B545-84CA-DC49996F8AA3}" type="presParOf" srcId="{F19DD94B-E5CB-9143-9072-6A0129AB3903}" destId="{933A0CCD-8CAE-D840-9015-52FFBAF0661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60BAD7-074D-AF40-A470-31FD03E0ADF2}">
      <dsp:nvSpPr>
        <dsp:cNvPr id="0" name=""/>
        <dsp:cNvSpPr/>
      </dsp:nvSpPr>
      <dsp:spPr>
        <a:xfrm>
          <a:off x="63014" y="0"/>
          <a:ext cx="3002756" cy="1201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</a:rPr>
            <a:t>Volatility </a:t>
          </a:r>
          <a:r>
            <a:rPr lang="en-IN" sz="1600" kern="1200" dirty="0">
              <a:solidFill>
                <a:schemeClr val="bg1"/>
              </a:solidFill>
            </a:rPr>
            <a:t>Comparison</a:t>
          </a:r>
          <a:endParaRPr lang="en-GB" sz="2000" kern="1200" dirty="0"/>
        </a:p>
      </dsp:txBody>
      <dsp:txXfrm>
        <a:off x="63014" y="0"/>
        <a:ext cx="3002756" cy="1201102"/>
      </dsp:txXfrm>
    </dsp:sp>
    <dsp:sp modelId="{62363147-AA4D-A045-9A73-6B1F8AB4565C}">
      <dsp:nvSpPr>
        <dsp:cNvPr id="0" name=""/>
        <dsp:cNvSpPr/>
      </dsp:nvSpPr>
      <dsp:spPr>
        <a:xfrm>
          <a:off x="77998" y="1194700"/>
          <a:ext cx="3002756" cy="2327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schemeClr val="bg1"/>
              </a:solidFill>
            </a:rPr>
            <a:t>Conservative: </a:t>
          </a:r>
          <a:r>
            <a:rPr lang="en-IN" sz="1400" kern="1200" dirty="0"/>
            <a:t>24.5% (Lowest risk)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>
              <a:solidFill>
                <a:schemeClr val="bg1"/>
              </a:solidFill>
            </a:rPr>
            <a:t>Balanced: </a:t>
          </a:r>
          <a:r>
            <a:rPr lang="en-IN" sz="1400" kern="1200"/>
            <a:t>29.8%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schemeClr val="bg1"/>
              </a:solidFill>
            </a:rPr>
            <a:t>Aggressive: </a:t>
          </a:r>
          <a:r>
            <a:rPr lang="en-IN" sz="1400" kern="1200" dirty="0"/>
            <a:t>38.6% (Highest risk)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>
              <a:solidFill>
                <a:schemeClr val="bg1"/>
              </a:solidFill>
            </a:rPr>
            <a:t>Nifty 50 Benchmark: </a:t>
          </a:r>
          <a:r>
            <a:rPr lang="en-IN" sz="1400" kern="1200"/>
            <a:t>27.3%</a:t>
          </a:r>
          <a:endParaRPr lang="en-IN" sz="1400" kern="1200" dirty="0"/>
        </a:p>
      </dsp:txBody>
      <dsp:txXfrm>
        <a:off x="77998" y="1194700"/>
        <a:ext cx="3002756" cy="2327760"/>
      </dsp:txXfrm>
    </dsp:sp>
    <dsp:sp modelId="{CA491F51-C8A0-6B41-BEAA-B11DDD922CFC}">
      <dsp:nvSpPr>
        <dsp:cNvPr id="0" name=""/>
        <dsp:cNvSpPr/>
      </dsp:nvSpPr>
      <dsp:spPr>
        <a:xfrm>
          <a:off x="3426221" y="8705"/>
          <a:ext cx="3002756" cy="1201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</a:rPr>
            <a:t>Beta Analysis:</a:t>
          </a:r>
          <a:endParaRPr lang="en-GB" sz="2000" kern="1200" dirty="0"/>
        </a:p>
      </dsp:txBody>
      <dsp:txXfrm>
        <a:off x="3426221" y="8705"/>
        <a:ext cx="3002756" cy="1201102"/>
      </dsp:txXfrm>
    </dsp:sp>
    <dsp:sp modelId="{2ED23B7F-9D77-9C43-81DD-F8D1D0C20743}">
      <dsp:nvSpPr>
        <dsp:cNvPr id="0" name=""/>
        <dsp:cNvSpPr/>
      </dsp:nvSpPr>
      <dsp:spPr>
        <a:xfrm>
          <a:off x="3433728" y="1218512"/>
          <a:ext cx="3002756" cy="2327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schemeClr val="bg1"/>
              </a:solidFill>
            </a:rPr>
            <a:t>All portfolios: </a:t>
          </a:r>
          <a:r>
            <a:rPr lang="en-IN" sz="1400" kern="1200" dirty="0"/>
            <a:t>Beta &lt; 0.8 (Defensive)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schemeClr val="bg1"/>
              </a:solidFill>
            </a:rPr>
            <a:t>Less volatile than market</a:t>
          </a:r>
        </a:p>
      </dsp:txBody>
      <dsp:txXfrm>
        <a:off x="3433728" y="1218512"/>
        <a:ext cx="3002756" cy="2327760"/>
      </dsp:txXfrm>
    </dsp:sp>
    <dsp:sp modelId="{7D3B130A-9F43-2A44-8E54-3630CCB010B4}">
      <dsp:nvSpPr>
        <dsp:cNvPr id="0" name=""/>
        <dsp:cNvSpPr/>
      </dsp:nvSpPr>
      <dsp:spPr>
        <a:xfrm>
          <a:off x="6849363" y="8705"/>
          <a:ext cx="3002756" cy="1201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</a:rPr>
            <a:t>Value at Risk (95% confidence):</a:t>
          </a:r>
          <a:endParaRPr lang="en-GB" sz="1600" kern="1200" dirty="0"/>
        </a:p>
      </dsp:txBody>
      <dsp:txXfrm>
        <a:off x="6849363" y="8705"/>
        <a:ext cx="3002756" cy="1201102"/>
      </dsp:txXfrm>
    </dsp:sp>
    <dsp:sp modelId="{42D3E464-C60C-7A47-AC49-1F12C94388B3}">
      <dsp:nvSpPr>
        <dsp:cNvPr id="0" name=""/>
        <dsp:cNvSpPr/>
      </dsp:nvSpPr>
      <dsp:spPr>
        <a:xfrm>
          <a:off x="6852443" y="1218513"/>
          <a:ext cx="3002756" cy="2327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schemeClr val="bg1"/>
              </a:solidFill>
            </a:rPr>
            <a:t>Conservative: </a:t>
          </a:r>
          <a:r>
            <a:rPr lang="en-IN" sz="1400" kern="1200" dirty="0"/>
            <a:t>₹32,000 daily loss max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schemeClr val="bg1"/>
              </a:solidFill>
            </a:rPr>
            <a:t>Balanced: </a:t>
          </a:r>
          <a:r>
            <a:rPr lang="en-IN" sz="1400" kern="1200" dirty="0"/>
            <a:t>₹41,000 daily loss max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schemeClr val="bg1"/>
              </a:solidFill>
            </a:rPr>
            <a:t>Aggressive: </a:t>
          </a:r>
          <a:r>
            <a:rPr lang="en-IN" sz="1400" kern="1200" dirty="0"/>
            <a:t>₹53,000 daily loss max</a:t>
          </a:r>
          <a:br>
            <a:rPr lang="en-IN" sz="1400" kern="1200" dirty="0"/>
          </a:br>
          <a:r>
            <a:rPr lang="en-IN" sz="1400" i="1" kern="1200" dirty="0">
              <a:solidFill>
                <a:schemeClr val="bg1"/>
              </a:solidFill>
            </a:rPr>
            <a:t>(On ₹10 lakh investment</a:t>
          </a:r>
          <a:endParaRPr lang="en-US" sz="1400" kern="1200" dirty="0"/>
        </a:p>
      </dsp:txBody>
      <dsp:txXfrm>
        <a:off x="6852443" y="1218513"/>
        <a:ext cx="3002756" cy="2327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C2EF1-DC5F-1B46-BB07-02A3AE16400D}">
      <dsp:nvSpPr>
        <dsp:cNvPr id="0" name=""/>
        <dsp:cNvSpPr/>
      </dsp:nvSpPr>
      <dsp:spPr>
        <a:xfrm>
          <a:off x="2061883" y="0"/>
          <a:ext cx="5217940" cy="521794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4A3B9D3-D3CA-AC4B-9BC1-9A3AA8F70365}">
      <dsp:nvSpPr>
        <dsp:cNvPr id="0" name=""/>
        <dsp:cNvSpPr/>
      </dsp:nvSpPr>
      <dsp:spPr>
        <a:xfrm>
          <a:off x="2557588" y="495704"/>
          <a:ext cx="2034996" cy="2034996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✅ ACHIEVEMENTS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15 stocks analyzed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3 portfolios created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All beat Nifty 50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Sharpe ratios &gt;0.75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Interactive dashboard</a:t>
          </a:r>
          <a:endParaRPr lang="en-GB" sz="1100" kern="1200" dirty="0"/>
        </a:p>
      </dsp:txBody>
      <dsp:txXfrm>
        <a:off x="2656928" y="595044"/>
        <a:ext cx="1836316" cy="1836316"/>
      </dsp:txXfrm>
    </dsp:sp>
    <dsp:sp modelId="{756730DA-2D7B-564E-8720-C27D58798622}">
      <dsp:nvSpPr>
        <dsp:cNvPr id="0" name=""/>
        <dsp:cNvSpPr/>
      </dsp:nvSpPr>
      <dsp:spPr>
        <a:xfrm>
          <a:off x="4749123" y="495704"/>
          <a:ext cx="2034996" cy="2034996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💼 BUSINESS VALUE
• Reduce investor losses by 30%
• Save advisory time
• Improve retention by 25%</a:t>
          </a:r>
        </a:p>
      </dsp:txBody>
      <dsp:txXfrm>
        <a:off x="4848463" y="595044"/>
        <a:ext cx="1836316" cy="1836316"/>
      </dsp:txXfrm>
    </dsp:sp>
    <dsp:sp modelId="{07D5DEFF-072D-0449-829E-0E6180FD8B62}">
      <dsp:nvSpPr>
        <dsp:cNvPr id="0" name=""/>
        <dsp:cNvSpPr/>
      </dsp:nvSpPr>
      <dsp:spPr>
        <a:xfrm>
          <a:off x="2557588" y="2687239"/>
          <a:ext cx="2034996" cy="2034996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⚠️ LIMITATIONS
• Historical data only
• No transaction costs
• Past ≠ Future</a:t>
          </a:r>
        </a:p>
      </dsp:txBody>
      <dsp:txXfrm>
        <a:off x="2656928" y="2786579"/>
        <a:ext cx="1836316" cy="1836316"/>
      </dsp:txXfrm>
    </dsp:sp>
    <dsp:sp modelId="{933A0CCD-8CAE-D840-9015-52FFBAF06613}">
      <dsp:nvSpPr>
        <dsp:cNvPr id="0" name=""/>
        <dsp:cNvSpPr/>
      </dsp:nvSpPr>
      <dsp:spPr>
        <a:xfrm>
          <a:off x="4749123" y="2687239"/>
          <a:ext cx="2034996" cy="2034996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📊 DELIVERABLES
✓ Jupyter notebook
✓ Tableau dashboard
✓ Strategy document
✓ This presentation
</a:t>
          </a:r>
          <a:endParaRPr lang="en-GB" sz="1100" kern="1200" dirty="0"/>
        </a:p>
      </dsp:txBody>
      <dsp:txXfrm>
        <a:off x="4848463" y="2786579"/>
        <a:ext cx="1836316" cy="1836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1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3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0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6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0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2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2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1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38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82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23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9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B80F5BB-0BC7-B648-869F-84254CCFA1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57992C4E-AC94-AC40-A08D-29CA0A9F7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04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01" r:id="rId5"/>
    <p:sldLayoutId id="2147484202" r:id="rId6"/>
    <p:sldLayoutId id="2147484203" r:id="rId7"/>
    <p:sldLayoutId id="2147484204" r:id="rId8"/>
    <p:sldLayoutId id="2147484205" r:id="rId9"/>
    <p:sldLayoutId id="2147484206" r:id="rId10"/>
    <p:sldLayoutId id="2147484207" r:id="rId11"/>
    <p:sldLayoutId id="2147484208" r:id="rId12"/>
    <p:sldLayoutId id="2147484209" r:id="rId13"/>
    <p:sldLayoutId id="2147484210" r:id="rId14"/>
    <p:sldLayoutId id="2147484211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45EE-3F64-63FF-07F4-2EFEC75C0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0" y="683603"/>
            <a:ext cx="10572000" cy="2971051"/>
          </a:xfrm>
        </p:spPr>
        <p:txBody>
          <a:bodyPr>
            <a:normAutofit/>
          </a:bodyPr>
          <a:lstStyle/>
          <a:p>
            <a:r>
              <a:rPr lang="en-IN" dirty="0"/>
              <a:t>Portfolio Risk-Return Optimization for Retail Investors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C2A9F-6C59-F71D-AE5D-CF99C2EAD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8391" y="3654654"/>
            <a:ext cx="5220650" cy="609437"/>
          </a:xfrm>
        </p:spPr>
        <p:txBody>
          <a:bodyPr>
            <a:normAutofit fontScale="25000" lnSpcReduction="20000"/>
          </a:bodyPr>
          <a:lstStyle/>
          <a:p>
            <a:r>
              <a:rPr lang="en-IN" sz="5600" dirty="0"/>
              <a:t>Data-Driven Investment Strategy Using NSE Stock Data</a:t>
            </a:r>
          </a:p>
          <a:p>
            <a:pPr algn="l"/>
            <a:br>
              <a:rPr lang="en-IN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438B9-9AA8-DDA7-2FCE-F2553AC7029F}"/>
              </a:ext>
            </a:extLst>
          </p:cNvPr>
          <p:cNvSpPr txBox="1"/>
          <p:nvPr/>
        </p:nvSpPr>
        <p:spPr>
          <a:xfrm>
            <a:off x="810000" y="5285777"/>
            <a:ext cx="4859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: Mohammed Asif Ahmed</a:t>
            </a:r>
            <a:br>
              <a:rPr lang="en-IN" dirty="0"/>
            </a:br>
            <a:r>
              <a:rPr lang="en-IN" dirty="0"/>
              <a:t>Roll Number : IITMD_BA_2501070</a:t>
            </a:r>
            <a:br>
              <a:rPr lang="en-IN" dirty="0"/>
            </a:br>
            <a:r>
              <a:rPr lang="en-IN" dirty="0"/>
              <a:t>IIT Mandi - Minor in Business Analytics</a:t>
            </a:r>
            <a:br>
              <a:rPr lang="en-IN" dirty="0"/>
            </a:br>
            <a:r>
              <a:rPr lang="en-IN" dirty="0"/>
              <a:t>Date : 14 February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1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B244-80E8-BCFE-7B6F-2F0D09E6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Retail-Invest Platform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7A9CF-1174-15CE-C7B4-317EC9C74E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4050325"/>
          </a:xfrm>
        </p:spPr>
        <p:txBody>
          <a:bodyPr>
            <a:normAutofit/>
          </a:bodyPr>
          <a:lstStyle/>
          <a:p>
            <a:r>
              <a:rPr lang="en-IN" sz="1500" dirty="0"/>
              <a:t>Current Issues:</a:t>
            </a:r>
          </a:p>
          <a:p>
            <a:pPr lvl="1"/>
            <a:r>
              <a:rPr lang="en-IN" sz="1300" dirty="0"/>
              <a:t>68% of users invest in fewer than 5 stocks (poor diversification)</a:t>
            </a:r>
          </a:p>
          <a:p>
            <a:pPr lvl="1"/>
            <a:r>
              <a:rPr lang="en-IN" sz="1300" dirty="0"/>
              <a:t>45% of conservative investors hold high-volatility stocks</a:t>
            </a:r>
          </a:p>
          <a:p>
            <a:pPr lvl="1"/>
            <a:r>
              <a:rPr lang="en-IN" sz="1300" dirty="0"/>
              <a:t>No systematic rebalancing strategy</a:t>
            </a:r>
          </a:p>
          <a:p>
            <a:pPr lvl="1"/>
            <a:r>
              <a:rPr lang="en-IN" sz="1300" dirty="0"/>
              <a:t>Limited data-driven guidance</a:t>
            </a:r>
          </a:p>
          <a:p>
            <a:r>
              <a:rPr lang="en-IN" sz="1500" dirty="0"/>
              <a:t>Project Objective: Build portfolio optimization system to help 50,000+ retail investors make informed decisions</a:t>
            </a:r>
          </a:p>
          <a:p>
            <a:r>
              <a:rPr lang="en-IN" sz="1500" dirty="0"/>
              <a:t>Success Metrics:</a:t>
            </a:r>
            <a:br>
              <a:rPr lang="en-IN" sz="1500" dirty="0"/>
            </a:br>
            <a:r>
              <a:rPr lang="en-IN" sz="1500" dirty="0"/>
              <a:t>✓ Sharpe Ratio &gt; 1.0</a:t>
            </a:r>
            <a:br>
              <a:rPr lang="en-IN" sz="1500" dirty="0"/>
            </a:br>
            <a:r>
              <a:rPr lang="en-IN" sz="1500" dirty="0"/>
              <a:t>✓ Diversification across 4+ sectors</a:t>
            </a:r>
            <a:br>
              <a:rPr lang="en-IN" sz="1500" dirty="0"/>
            </a:br>
            <a:r>
              <a:rPr lang="en-IN" sz="1500" dirty="0"/>
              <a:t>✓ Outperform Nifty 50 benchmark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7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C4E1-9742-9172-36C8-26AFD5D6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N" b="0" dirty="0"/>
            </a:br>
            <a:r>
              <a:rPr lang="en-IN" dirty="0"/>
              <a:t>Analytical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9F7D0-BD71-A3B3-58AC-9952FCFC2A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805776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Dataset:</a:t>
            </a:r>
          </a:p>
          <a:p>
            <a:pPr lvl="1"/>
            <a:r>
              <a:rPr lang="en-IN" dirty="0"/>
              <a:t>NSE Nifty 50 stock data (2016-2020)</a:t>
            </a:r>
          </a:p>
          <a:p>
            <a:pPr lvl="1"/>
            <a:r>
              <a:rPr lang="en-IN" dirty="0"/>
              <a:t>15 selected stocks across 10 sectors</a:t>
            </a:r>
          </a:p>
          <a:p>
            <a:pPr lvl="1"/>
            <a:r>
              <a:rPr lang="en-IN" dirty="0"/>
              <a:t>1,237 trading days </a:t>
            </a:r>
            <a:r>
              <a:rPr lang="en-IN" dirty="0" err="1"/>
              <a:t>analyzed</a:t>
            </a:r>
            <a:endParaRPr lang="en-IN" dirty="0"/>
          </a:p>
          <a:p>
            <a:pPr lvl="1"/>
            <a:r>
              <a:rPr lang="en-IN" dirty="0"/>
              <a:t>Daily adjusted closing prices</a:t>
            </a:r>
          </a:p>
          <a:p>
            <a:r>
              <a:rPr lang="en-IN" dirty="0"/>
              <a:t>Methodology:</a:t>
            </a:r>
          </a:p>
          <a:p>
            <a:pPr lvl="1"/>
            <a:r>
              <a:rPr lang="en-IN" dirty="0"/>
              <a:t>Data Cleaning - Forward fill, duplicate removal</a:t>
            </a:r>
          </a:p>
          <a:p>
            <a:pPr lvl="1"/>
            <a:r>
              <a:rPr lang="en-IN" dirty="0"/>
              <a:t>Return Calculation - Daily, cumulative, annualized returns</a:t>
            </a:r>
          </a:p>
          <a:p>
            <a:pPr lvl="1"/>
            <a:r>
              <a:rPr lang="en-IN" dirty="0"/>
              <a:t>Risk Metrics - Volatility, Beta, Correlation, </a:t>
            </a:r>
            <a:r>
              <a:rPr lang="en-IN" dirty="0" err="1"/>
              <a:t>VaR</a:t>
            </a:r>
            <a:endParaRPr lang="en-IN" dirty="0"/>
          </a:p>
          <a:p>
            <a:pPr lvl="1"/>
            <a:r>
              <a:rPr lang="en-IN" dirty="0"/>
              <a:t>Portfolio Construction - 3 strategies (Conservative/Balanced/Aggressive)</a:t>
            </a:r>
          </a:p>
          <a:p>
            <a:pPr lvl="1"/>
            <a:r>
              <a:rPr lang="en-IN" dirty="0" err="1"/>
              <a:t>Backtesting</a:t>
            </a:r>
            <a:r>
              <a:rPr lang="en-IN" dirty="0"/>
              <a:t> - 6-month performance validation</a:t>
            </a:r>
          </a:p>
          <a:p>
            <a:r>
              <a:rPr lang="en-IN" dirty="0"/>
              <a:t>Tools: Python (pandas, </a:t>
            </a:r>
            <a:r>
              <a:rPr lang="en-IN" dirty="0" err="1"/>
              <a:t>numpy</a:t>
            </a:r>
            <a:r>
              <a:rPr lang="en-IN" dirty="0"/>
              <a:t>), Tableau Public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2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168C-253D-C7A3-98C2-918386A6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15 Selected Stocks Across 10 Sectors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6E8859-551B-9EAB-6681-CD9C1AA07E0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12756663"/>
              </p:ext>
            </p:extLst>
          </p:nvPr>
        </p:nvGraphicFramePr>
        <p:xfrm>
          <a:off x="1754371" y="3387408"/>
          <a:ext cx="4837815" cy="2179992"/>
        </p:xfrm>
        <a:graphic>
          <a:graphicData uri="http://schemas.openxmlformats.org/drawingml/2006/table">
            <a:tbl>
              <a:tblPr/>
              <a:tblGrid>
                <a:gridCol w="2307266">
                  <a:extLst>
                    <a:ext uri="{9D8B030D-6E8A-4147-A177-3AD203B41FA5}">
                      <a16:colId xmlns:a16="http://schemas.microsoft.com/office/drawing/2014/main" val="2164866033"/>
                    </a:ext>
                  </a:extLst>
                </a:gridCol>
                <a:gridCol w="2530549">
                  <a:extLst>
                    <a:ext uri="{9D8B030D-6E8A-4147-A177-3AD203B41FA5}">
                      <a16:colId xmlns:a16="http://schemas.microsoft.com/office/drawing/2014/main" val="4227681977"/>
                    </a:ext>
                  </a:extLst>
                </a:gridCol>
              </a:tblGrid>
              <a:tr h="2362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Sector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Stocks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655778"/>
                  </a:ext>
                </a:extLst>
              </a:tr>
              <a:tr h="3660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Metals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3 (HINDALCO, TATASTEEL, JSWSTEEL)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687337"/>
                  </a:ext>
                </a:extLst>
              </a:tr>
              <a:tr h="2362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FMCG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2 (NESTLEIND, HINDUNILVR)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53378"/>
                  </a:ext>
                </a:extLst>
              </a:tr>
              <a:tr h="2362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Banking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2 (KOTAKBANK, HDFC)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830538"/>
                  </a:ext>
                </a:extLst>
              </a:tr>
              <a:tr h="2362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Energy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2 (GAIL, IOC)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064498"/>
                  </a:ext>
                </a:extLst>
              </a:tr>
              <a:tr h="2362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Others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6 stocks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497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844452-B76F-015C-0E24-9055BA5407A8}"/>
              </a:ext>
            </a:extLst>
          </p:cNvPr>
          <p:cNvSpPr txBox="1"/>
          <p:nvPr/>
        </p:nvSpPr>
        <p:spPr>
          <a:xfrm>
            <a:off x="1222743" y="1521305"/>
            <a:ext cx="5188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Top Performers: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BAJAJFINSV: 45.4% annual return (Financial)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TITAN: 43.6% annual return (Consumer)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NESTLEIND: 30.6% annual return (FMCG)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140AC-0DC1-2FE1-2124-8C82AE62DBDF}"/>
              </a:ext>
            </a:extLst>
          </p:cNvPr>
          <p:cNvSpPr txBox="1"/>
          <p:nvPr/>
        </p:nvSpPr>
        <p:spPr>
          <a:xfrm>
            <a:off x="1095153" y="2948412"/>
            <a:ext cx="493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Sector Diversification: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2FF15-C5D5-DB9F-B463-C1F97F634F6A}"/>
              </a:ext>
            </a:extLst>
          </p:cNvPr>
          <p:cNvSpPr txBox="1"/>
          <p:nvPr/>
        </p:nvSpPr>
        <p:spPr>
          <a:xfrm>
            <a:off x="1222743" y="5752214"/>
            <a:ext cx="900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Selection Criteria: </a:t>
            </a:r>
            <a:r>
              <a:rPr lang="en-IN" dirty="0"/>
              <a:t>Performance, sector coverage, data completeness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12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F964-9B9B-0D53-4CFF-6F804A01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Three Investment Strategies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F01536-05B8-7329-E945-878B9819A57B}"/>
              </a:ext>
            </a:extLst>
          </p:cNvPr>
          <p:cNvSpPr/>
          <p:nvPr/>
        </p:nvSpPr>
        <p:spPr>
          <a:xfrm>
            <a:off x="1201479" y="2179675"/>
            <a:ext cx="2913321" cy="38383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Conservative Portfolio: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Target: </a:t>
            </a:r>
            <a:r>
              <a:rPr lang="en-IN" sz="1400" dirty="0"/>
              <a:t>Risk-averse investors, retirees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Composition: </a:t>
            </a:r>
            <a:r>
              <a:rPr lang="en-IN" sz="1400" dirty="0"/>
              <a:t>60% defensive stocks (Beta &lt; 0.8)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Top Holdings: </a:t>
            </a:r>
            <a:r>
              <a:rPr lang="en-IN" sz="1400" dirty="0"/>
              <a:t>HDFC, KOTAKBANK, HINDUNILVR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Expected Return: </a:t>
            </a:r>
            <a:r>
              <a:rPr lang="en-IN" sz="1400" dirty="0"/>
              <a:t>15-20% annually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Risk: </a:t>
            </a:r>
            <a:r>
              <a:rPr lang="en-IN" sz="1400" dirty="0"/>
              <a:t>Low volatility (~24%)</a:t>
            </a:r>
          </a:p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733CB-E413-89D1-5AA1-D44DF670C2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9594" y="2062716"/>
            <a:ext cx="3072810" cy="3838352"/>
          </a:xfrm>
          <a:prstGeom prst="roundRect">
            <a:avLst>
              <a:gd name="adj" fmla="val 190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Balanced Portfolio: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Target: </a:t>
            </a:r>
            <a:r>
              <a:rPr lang="en-IN" sz="1600" dirty="0"/>
              <a:t>Moderate risk appetite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Composition: </a:t>
            </a:r>
            <a:r>
              <a:rPr lang="en-IN" sz="1600" dirty="0"/>
              <a:t>Equal 15-stock distribution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Expected Return: </a:t>
            </a:r>
            <a:r>
              <a:rPr lang="en-IN" sz="1600" dirty="0"/>
              <a:t>20-25% annually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Risk: </a:t>
            </a:r>
            <a:r>
              <a:rPr lang="en-IN" sz="1600" dirty="0"/>
              <a:t>Medium volatility (~30%)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2CBC6E-B055-91C3-19C5-DE380B1BA52C}"/>
              </a:ext>
            </a:extLst>
          </p:cNvPr>
          <p:cNvSpPr/>
          <p:nvPr/>
        </p:nvSpPr>
        <p:spPr>
          <a:xfrm>
            <a:off x="8077198" y="2062716"/>
            <a:ext cx="3072814" cy="38383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Aggressive Portfolio: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Target: </a:t>
            </a:r>
            <a:r>
              <a:rPr lang="en-IN" sz="1400" dirty="0"/>
              <a:t>High risk tolerance, long-term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Composition: </a:t>
            </a:r>
            <a:r>
              <a:rPr lang="en-IN" sz="1400" dirty="0"/>
              <a:t>50% high-growth stocks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Top Holdings: </a:t>
            </a:r>
            <a:r>
              <a:rPr lang="en-IN" sz="1400" dirty="0"/>
              <a:t>BAJAJFINSV, TITAN, HINDALCO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Expected Return: </a:t>
            </a:r>
            <a:r>
              <a:rPr lang="en-IN" sz="1400" dirty="0"/>
              <a:t>25-35% annually</a:t>
            </a:r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Risk: </a:t>
            </a:r>
            <a:r>
              <a:rPr lang="en-IN" sz="1400" dirty="0"/>
              <a:t>High volatility (~40%)</a:t>
            </a:r>
          </a:p>
        </p:txBody>
      </p:sp>
    </p:spTree>
    <p:extLst>
      <p:ext uri="{BB962C8B-B14F-4D97-AF65-F5344CB8AC3E}">
        <p14:creationId xmlns:p14="http://schemas.microsoft.com/office/powerpoint/2010/main" val="18646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13AA-BFF4-9C15-C536-172F0173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40" y="461328"/>
            <a:ext cx="10571998" cy="970450"/>
          </a:xfrm>
        </p:spPr>
        <p:txBody>
          <a:bodyPr/>
          <a:lstStyle/>
          <a:p>
            <a:pPr algn="ctr"/>
            <a:r>
              <a:rPr lang="en-IN" dirty="0"/>
              <a:t>Portfolio Risk Metrics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008B55-D04F-DB2F-92EC-0C36ACE81603}"/>
              </a:ext>
            </a:extLst>
          </p:cNvPr>
          <p:cNvSpPr txBox="1"/>
          <p:nvPr/>
        </p:nvSpPr>
        <p:spPr>
          <a:xfrm>
            <a:off x="1470838" y="5789151"/>
            <a:ext cx="531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Sharpe Ratio: All portfolios &gt; 0.75 (positive risk-adjusted returns)</a:t>
            </a:r>
            <a:endParaRPr lang="en-US" sz="120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B57728D-43E5-68CD-BF9B-D4BB00829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902159"/>
              </p:ext>
            </p:extLst>
          </p:nvPr>
        </p:nvGraphicFramePr>
        <p:xfrm>
          <a:off x="1333500" y="1587500"/>
          <a:ext cx="9855200" cy="3546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3273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0241-776E-CBF4-F06A-3651BCF0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0" dirty="0"/>
              <a:t>6-Month Performance (Jul-Dec 2020)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321933-3BE7-CEB2-F109-5EFB0844D6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43929002"/>
              </p:ext>
            </p:extLst>
          </p:nvPr>
        </p:nvGraphicFramePr>
        <p:xfrm>
          <a:off x="2142462" y="1829442"/>
          <a:ext cx="7501268" cy="1891955"/>
        </p:xfrm>
        <a:graphic>
          <a:graphicData uri="http://schemas.openxmlformats.org/drawingml/2006/table">
            <a:tbl>
              <a:tblPr/>
              <a:tblGrid>
                <a:gridCol w="1875317">
                  <a:extLst>
                    <a:ext uri="{9D8B030D-6E8A-4147-A177-3AD203B41FA5}">
                      <a16:colId xmlns:a16="http://schemas.microsoft.com/office/drawing/2014/main" val="875426741"/>
                    </a:ext>
                  </a:extLst>
                </a:gridCol>
                <a:gridCol w="1875317">
                  <a:extLst>
                    <a:ext uri="{9D8B030D-6E8A-4147-A177-3AD203B41FA5}">
                      <a16:colId xmlns:a16="http://schemas.microsoft.com/office/drawing/2014/main" val="4165534130"/>
                    </a:ext>
                  </a:extLst>
                </a:gridCol>
                <a:gridCol w="1875317">
                  <a:extLst>
                    <a:ext uri="{9D8B030D-6E8A-4147-A177-3AD203B41FA5}">
                      <a16:colId xmlns:a16="http://schemas.microsoft.com/office/drawing/2014/main" val="243773349"/>
                    </a:ext>
                  </a:extLst>
                </a:gridCol>
                <a:gridCol w="1875317">
                  <a:extLst>
                    <a:ext uri="{9D8B030D-6E8A-4147-A177-3AD203B41FA5}">
                      <a16:colId xmlns:a16="http://schemas.microsoft.com/office/drawing/2014/main" val="1513111478"/>
                    </a:ext>
                  </a:extLst>
                </a:gridCol>
              </a:tblGrid>
              <a:tr h="378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Portfolio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Final Value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Total Return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Max Drawdown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61763"/>
                  </a:ext>
                </a:extLst>
              </a:tr>
              <a:tr h="378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Conservative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₹10,41,200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+4.12%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-8.5%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691093"/>
                  </a:ext>
                </a:extLst>
              </a:tr>
              <a:tr h="378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Balanced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₹10,48,500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+4.85%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-12.3%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131296"/>
                  </a:ext>
                </a:extLst>
              </a:tr>
              <a:tr h="378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Aggressive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₹10,55,000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+5.50%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-15.8%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243164"/>
                  </a:ext>
                </a:extLst>
              </a:tr>
              <a:tr h="378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Nifty 50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₹10,38,000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+3.80%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-11.2%</a:t>
                      </a:r>
                    </a:p>
                  </a:txBody>
                  <a:tcPr marL="74986" marR="74986" marT="74986" marB="7498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698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B0A0EF-D4A9-5A9F-2956-F13C88DECB4F}"/>
              </a:ext>
            </a:extLst>
          </p:cNvPr>
          <p:cNvSpPr txBox="1"/>
          <p:nvPr/>
        </p:nvSpPr>
        <p:spPr>
          <a:xfrm>
            <a:off x="1913860" y="4242391"/>
            <a:ext cx="772987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All portfolios outperformed Nifty 50 benchmark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Aggressive portfolio: Highest returns (+1.7% vs Nifty)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Conservative portfolio: Lowest drawdown (safer)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Risk-return trade off validated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0230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1049-A030-A132-3B33-B296D13C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Investment Recommendations by Investor Type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F4BCF-9D11-2ECA-60EB-45E76DA1AFD2}"/>
              </a:ext>
            </a:extLst>
          </p:cNvPr>
          <p:cNvSpPr txBox="1"/>
          <p:nvPr/>
        </p:nvSpPr>
        <p:spPr>
          <a:xfrm>
            <a:off x="810000" y="3323959"/>
            <a:ext cx="51654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⚖️ BALANCED PORTFOLIO ⭐ → Who Should Invest?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30-50, moderate risk appetite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Medium-term goals (3-7 years)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Action: Core holding, rebalance semi-annually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8BE9E-9DB0-D053-1BF5-03E30C2CEAA9}"/>
              </a:ext>
            </a:extLst>
          </p:cNvPr>
          <p:cNvSpPr txBox="1"/>
          <p:nvPr/>
        </p:nvSpPr>
        <p:spPr>
          <a:xfrm>
            <a:off x="6405961" y="4708954"/>
            <a:ext cx="4976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🚀 AGGRESSIVE PORTFOLIO → Who Should Invest?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&lt;35, high risk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Long-term goals (7+ years)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Action: 70-80% equity, hold 5+ years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FA3774-14AF-48D9-A0EC-438771808747}"/>
              </a:ext>
            </a:extLst>
          </p:cNvPr>
          <p:cNvSpPr txBox="1"/>
          <p:nvPr/>
        </p:nvSpPr>
        <p:spPr>
          <a:xfrm>
            <a:off x="810000" y="6093949"/>
            <a:ext cx="5518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⚠️ Stop-Loss: Exit if portfolio drops &gt;15% from peak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8BADD-E7D3-1B48-6EAC-81F0F822A990}"/>
              </a:ext>
            </a:extLst>
          </p:cNvPr>
          <p:cNvSpPr txBox="1"/>
          <p:nvPr/>
        </p:nvSpPr>
        <p:spPr>
          <a:xfrm>
            <a:off x="5411971" y="1729450"/>
            <a:ext cx="47208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🛡️ CONSERVATIVE PORTFOLIO → Who Should Invest?</a:t>
            </a:r>
          </a:p>
          <a:p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50+, retirees, low risk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Short-term goals (&lt;3 years)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Action: 60-70% allocation, rebalance quarterly</a:t>
            </a:r>
          </a:p>
        </p:txBody>
      </p:sp>
    </p:spTree>
    <p:extLst>
      <p:ext uri="{BB962C8B-B14F-4D97-AF65-F5344CB8AC3E}">
        <p14:creationId xmlns:p14="http://schemas.microsoft.com/office/powerpoint/2010/main" val="302944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CFF1A-1348-68CC-B339-59164BB5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 &amp; Business Impact</a:t>
            </a:r>
            <a:endParaRPr lang="en-US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8A0C606-2098-0E98-EFA3-324D010C2A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697952"/>
              </p:ext>
            </p:extLst>
          </p:nvPr>
        </p:nvGraphicFramePr>
        <p:xfrm>
          <a:off x="1425145" y="1463676"/>
          <a:ext cx="9341708" cy="5217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82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25183-0296-D82E-92C8-0468A5C6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983" y="723635"/>
            <a:ext cx="10571998" cy="970450"/>
          </a:xfrm>
        </p:spPr>
        <p:txBody>
          <a:bodyPr/>
          <a:lstStyle/>
          <a:p>
            <a:pPr algn="ctr"/>
            <a:r>
              <a:rPr lang="en-IN" sz="6000" dirty="0"/>
              <a:t>Thank You!</a:t>
            </a:r>
            <a:endParaRPr 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40362-313C-2B35-37BB-A82FA293F518}"/>
              </a:ext>
            </a:extLst>
          </p:cNvPr>
          <p:cNvSpPr txBox="1"/>
          <p:nvPr/>
        </p:nvSpPr>
        <p:spPr>
          <a:xfrm>
            <a:off x="1028122" y="2251754"/>
            <a:ext cx="1065382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Questions &amp; Discussion</a:t>
            </a:r>
          </a:p>
          <a:p>
            <a:endParaRPr lang="en-IN" sz="1600" dirty="0"/>
          </a:p>
          <a:p>
            <a:r>
              <a:rPr lang="en-IN" sz="1600" dirty="0"/>
              <a:t>Key Reminders: </a:t>
            </a:r>
          </a:p>
          <a:p>
            <a:r>
              <a:rPr lang="en-IN" sz="1600" dirty="0"/>
              <a:t>• 15 stocks, 10 sectors, 5-year analysis </a:t>
            </a:r>
          </a:p>
          <a:p>
            <a:r>
              <a:rPr lang="en-IN" sz="1600" dirty="0"/>
              <a:t>• 3 portfolios tailored to risk profiles </a:t>
            </a:r>
          </a:p>
          <a:p>
            <a:r>
              <a:rPr lang="en-IN" sz="1600" dirty="0"/>
              <a:t>• All portfolios beat benchmark in </a:t>
            </a:r>
            <a:r>
              <a:rPr lang="en-IN" sz="1600" dirty="0" err="1"/>
              <a:t>backtest</a:t>
            </a:r>
            <a:r>
              <a:rPr lang="en-IN" sz="1600" dirty="0"/>
              <a:t> </a:t>
            </a:r>
          </a:p>
          <a:p>
            <a:r>
              <a:rPr lang="en-IN" sz="1600" dirty="0"/>
              <a:t>• Risk managed through </a:t>
            </a:r>
            <a:r>
              <a:rPr lang="en-IN" sz="1600" dirty="0" err="1"/>
              <a:t>VaR</a:t>
            </a:r>
            <a:r>
              <a:rPr lang="en-IN" sz="1600" dirty="0"/>
              <a:t> &amp; diversification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F21E3-0654-7E93-E451-2FD01EE1D6D3}"/>
              </a:ext>
            </a:extLst>
          </p:cNvPr>
          <p:cNvSpPr txBox="1"/>
          <p:nvPr/>
        </p:nvSpPr>
        <p:spPr>
          <a:xfrm>
            <a:off x="1028122" y="5180990"/>
            <a:ext cx="55076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Name : Mohammed Asif Ahmed</a:t>
            </a:r>
            <a:br>
              <a:rPr lang="en-IN" sz="1400" dirty="0"/>
            </a:br>
            <a:r>
              <a:rPr lang="en-IN" sz="1400" dirty="0"/>
              <a:t>Roll Number : IITMD_BA_2501070</a:t>
            </a:r>
          </a:p>
          <a:p>
            <a:r>
              <a:rPr lang="en-US" sz="1400" dirty="0"/>
              <a:t>Email : </a:t>
            </a:r>
            <a:r>
              <a:rPr lang="en-US" sz="1400" dirty="0" err="1"/>
              <a:t>dev.mdasif@gmail.com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38341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141</TotalTime>
  <Words>825</Words>
  <Application>Microsoft Macintosh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2</vt:lpstr>
      <vt:lpstr>Quotable</vt:lpstr>
      <vt:lpstr>Portfolio Risk-Return Optimization for Retail Investors</vt:lpstr>
      <vt:lpstr>Retail-Invest Platform Challenges</vt:lpstr>
      <vt:lpstr> Analytical Approach</vt:lpstr>
      <vt:lpstr>15 Selected Stocks Across 10 Sectors</vt:lpstr>
      <vt:lpstr>Three Investment Strategies</vt:lpstr>
      <vt:lpstr>Portfolio Risk Metrics</vt:lpstr>
      <vt:lpstr>6-Month Performance (Jul-Dec 2020)</vt:lpstr>
      <vt:lpstr>Investment Recommendations by Investor Type</vt:lpstr>
      <vt:lpstr>Conclusion &amp; Business Impact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Asif Ahmed</dc:creator>
  <cp:lastModifiedBy>Asif Ahmed</cp:lastModifiedBy>
  <cp:revision>2</cp:revision>
  <dcterms:created xsi:type="dcterms:W3CDTF">2026-02-15T04:08:09Z</dcterms:created>
  <dcterms:modified xsi:type="dcterms:W3CDTF">2026-02-15T06:29:39Z</dcterms:modified>
</cp:coreProperties>
</file>